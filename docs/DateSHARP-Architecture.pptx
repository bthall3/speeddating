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E1B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331720"/>
            <a:ext cx="914400" cy="64008"/>
          </a:xfrm>
          <a:prstGeom prst="rect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Cambria"/>
              </a:rPr>
              <a:t>DateSHARP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E8CECE"/>
                </a:solidFill>
                <a:latin typeface="Calibri"/>
              </a:rPr>
              <a:t>Built from the repo bthall3/SpeedDating as of September 20, 2026 — component, sequence, and data-flow views.</a:t>
            </a:r>
          </a:p>
          <a:p>
            <a:r>
              <a:rPr sz="1400" b="1">
                <a:solidFill>
                  <a:srgbClr val="FFFFFF"/>
                </a:solidFill>
                <a:latin typeface="Calibri"/>
              </a:rPr>
              <a:t>Prepared for Braden Hall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D8B8B8"/>
                </a:solidFill>
                <a:latin typeface="Calibri"/>
              </a:rPr>
              <a:t>The repo wins on every factual conflict with the original spec — see the Verification Notes slide for the full discrepancy list.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E1B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Architecture / Component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661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E8CECE"/>
                </a:solidFill>
                <a:latin typeface="Calibri"/>
              </a:rPr>
              <a:t>What talks to what — top-level components and per-phase detail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514600"/>
            <a:ext cx="822960" cy="54864"/>
          </a:xfrm>
          <a:prstGeom prst="rect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4211F"/>
                </a:solidFill>
                <a:latin typeface="Cambria"/>
              </a:rPr>
              <a:t>Component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6B6259"/>
                </a:solidFill>
                <a:latin typeface="Calibri"/>
              </a:rPr>
              <a:t>Top-level systems and who calls whom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1737360" cy="685800"/>
          </a:xfrm>
          <a:prstGeom prst="roundRect">
            <a:avLst/>
          </a:prstGeom>
          <a:solidFill>
            <a:srgbClr val="FAF7F2"/>
          </a:solidFill>
          <a:ln w="9525">
            <a:solidFill>
              <a:srgbClr val="FAF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9E1B32"/>
                </a:solidFill>
                <a:latin typeface="Calibri"/>
              </a:rPr>
              <a:t>GitHub Pages</a:t>
            </a:r>
          </a:p>
          <a:p>
            <a:pPr algn="ctr"/>
            <a:r>
              <a:rPr sz="950" b="0" i="0">
                <a:solidFill>
                  <a:srgbClr val="9E1B32"/>
                </a:solidFill>
                <a:latin typeface="Calibri"/>
              </a:rPr>
              <a:t>(index, checkin,</a:t>
            </a:r>
          </a:p>
          <a:p>
            <a:pPr algn="ctr"/>
            <a:r>
              <a:rPr sz="950" b="0" i="0">
                <a:solidFill>
                  <a:srgbClr val="9E1B32"/>
                </a:solidFill>
                <a:latin typeface="Calibri"/>
              </a:rPr>
              <a:t>scorecard, training...)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480560"/>
            <a:ext cx="1600200" cy="685800"/>
          </a:xfrm>
          <a:prstGeom prst="roundRect">
            <a:avLst/>
          </a:prstGeom>
          <a:solidFill>
            <a:srgbClr val="4A5A66"/>
          </a:solidFill>
          <a:ln w="9525">
            <a:solidFill>
              <a:srgbClr val="4A5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Qualtrics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(recruitment +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intake WebService)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2377440"/>
            <a:ext cx="2103120" cy="1280160"/>
          </a:xfrm>
          <a:prstGeom prst="roundRect">
            <a:avLst/>
          </a:prstGeom>
          <a:solidFill>
            <a:srgbClr val="B8924A"/>
          </a:solidFill>
          <a:ln w="9525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Cloudflare Workers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(18+ per-page Workers,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none live in this repo)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463040"/>
            <a:ext cx="1600200" cy="777240"/>
          </a:xfrm>
          <a:prstGeom prst="roundRect">
            <a:avLst/>
          </a:prstGeom>
          <a:solidFill>
            <a:srgbClr val="9E1B32"/>
          </a:solidFill>
          <a:ln w="9525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REDCap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(data of record)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4480560"/>
            <a:ext cx="1600200" cy="685800"/>
          </a:xfrm>
          <a:prstGeom prst="roundRect">
            <a:avLst/>
          </a:prstGeom>
          <a:solidFill>
            <a:srgbClr val="4A5A66"/>
          </a:solidFill>
          <a:ln w="9525">
            <a:solidFill>
              <a:srgbClr val="4A5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OpenAI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gpt-4o-mini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(practice chat)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77439" y="2720340"/>
            <a:ext cx="2468881" cy="11430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514599" y="226314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i="0" b="0">
                <a:solidFill>
                  <a:srgbClr val="24211F"/>
                </a:solidFill>
                <a:latin typeface="Calibri"/>
              </a:rPr>
              <a:t>fetch() from
inline &lt;script&gt;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6949440" y="1851660"/>
            <a:ext cx="2103120" cy="98298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995160" y="242316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i="0" b="0">
                <a:solidFill>
                  <a:srgbClr val="24211F"/>
                </a:solidFill>
                <a:latin typeface="Calibri"/>
              </a:rPr>
              <a:t>writes/reads
participant data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08760" y="3063240"/>
            <a:ext cx="0" cy="1417320"/>
          </a:xfrm>
          <a:prstGeom prst="line">
            <a:avLst/>
          </a:prstGeom>
          <a:ln w="19050">
            <a:solidFill>
              <a:srgbClr val="40404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423159" y="338328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i="0" b="0">
                <a:solidFill>
                  <a:srgbClr val="24211F"/>
                </a:solidFill>
                <a:latin typeface="Calibri"/>
              </a:rPr>
              <a:t>index.html link
(recruitment survey)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240280" y="3291840"/>
            <a:ext cx="2606040" cy="153162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286000" y="480060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i="1" b="0">
                <a:solidFill>
                  <a:srgbClr val="6E1222"/>
                </a:solidFill>
                <a:latin typeface="Calibri"/>
              </a:rPr>
              <a:t>qualtrics-intake Worker
(confirmed via Qualtrics
WebService screenshot;
NOT referenced in repo)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49440" y="3383280"/>
            <a:ext cx="2103120" cy="1440180"/>
          </a:xfrm>
          <a:prstGeom prst="line">
            <a:avLst/>
          </a:prstGeom>
          <a:ln w="19050">
            <a:solidFill>
              <a:srgbClr val="40404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040879" y="36118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i="1" b="0">
                <a:solidFill>
                  <a:srgbClr val="6E1222"/>
                </a:solidFill>
                <a:latin typeface="Calibri"/>
              </a:rPr>
              <a:t>practice-chat Worker → OpenAI
(role inferred from payload
shape, not confirmed in repo)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6309360"/>
            <a:ext cx="256032" cy="182880"/>
          </a:xfrm>
          <a:prstGeom prst="roundRect">
            <a:avLst/>
          </a:prstGeom>
          <a:solidFill>
            <a:srgbClr val="FAF7F2"/>
          </a:solidFill>
          <a:ln>
            <a:solidFill>
              <a:srgbClr val="FAF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19" y="628192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i="0" b="0">
                <a:solidFill>
                  <a:srgbClr val="6B6259"/>
                </a:solidFill>
                <a:latin typeface="Calibri"/>
              </a:rPr>
              <a:t>GitHub Pages / HTML page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71800" y="6309360"/>
            <a:ext cx="256032" cy="182880"/>
          </a:xfrm>
          <a:prstGeom prst="roundRect">
            <a:avLst/>
          </a:prstGeom>
          <a:solidFill>
            <a:srgbClr val="B8924A"/>
          </a:solidFill>
          <a:ln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628192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i="0" b="0">
                <a:solidFill>
                  <a:srgbClr val="6B6259"/>
                </a:solidFill>
                <a:latin typeface="Calibri"/>
              </a:rPr>
              <a:t>Cloudflare Worker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0" y="6309360"/>
            <a:ext cx="256032" cy="182880"/>
          </a:xfrm>
          <a:prstGeom prst="roundRect">
            <a:avLst/>
          </a:prstGeom>
          <a:solidFill>
            <a:srgbClr val="4A5A66"/>
          </a:solidFill>
          <a:ln>
            <a:solidFill>
              <a:srgbClr val="4A5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59" y="628192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i="0" b="0">
                <a:solidFill>
                  <a:srgbClr val="6B6259"/>
                </a:solidFill>
                <a:latin typeface="Calibri"/>
              </a:rPr>
              <a:t>External service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6309360"/>
            <a:ext cx="256032" cy="182880"/>
          </a:xfrm>
          <a:prstGeom prst="roundRect">
            <a:avLst/>
          </a:prstGeom>
          <a:solidFill>
            <a:srgbClr val="9E1B32"/>
          </a:solidFill>
          <a:ln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79" y="628192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i="0" b="0">
                <a:solidFill>
                  <a:srgbClr val="6B6259"/>
                </a:solidFill>
                <a:latin typeface="Calibri"/>
              </a:rPr>
              <a:t>REDCap (data store)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4211F"/>
                </a:solidFill>
                <a:latin typeface="Cambria"/>
              </a:rPr>
              <a:t>Phase 1 — Recruitment &amp; Intake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6B6259"/>
                </a:solidFill>
                <a:latin typeface="Calibri"/>
              </a:rPr>
              <a:t>index.html links out; intake never touches GitHub Pages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651760"/>
            <a:ext cx="1737360" cy="685800"/>
          </a:xfrm>
          <a:prstGeom prst="roundRect">
            <a:avLst/>
          </a:prstGeom>
          <a:solidFill>
            <a:srgbClr val="FAF7F2"/>
          </a:solidFill>
          <a:ln w="9525">
            <a:solidFill>
              <a:srgbClr val="FAF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9E1B32"/>
                </a:solidFill>
                <a:latin typeface="Calibri"/>
              </a:rPr>
              <a:t>index.html</a:t>
            </a:r>
          </a:p>
          <a:p>
            <a:pPr algn="ctr"/>
            <a:r>
              <a:rPr sz="950" b="0" i="0">
                <a:solidFill>
                  <a:srgbClr val="9E1B32"/>
                </a:solidFill>
                <a:latin typeface="Calibri"/>
              </a:rPr>
              <a:t>(public landing page)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2651760"/>
            <a:ext cx="1600200" cy="685800"/>
          </a:xfrm>
          <a:prstGeom prst="roundRect">
            <a:avLst/>
          </a:prstGeom>
          <a:solidFill>
            <a:srgbClr val="4A5A66"/>
          </a:solidFill>
          <a:ln w="9525">
            <a:solidFill>
              <a:srgbClr val="4A5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Qualtrics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recruitment/eligibility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survey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2651760"/>
            <a:ext cx="1600200" cy="685800"/>
          </a:xfrm>
          <a:prstGeom prst="roundRect">
            <a:avLst/>
          </a:prstGeom>
          <a:solidFill>
            <a:srgbClr val="4A5A66"/>
          </a:solidFill>
          <a:ln w="9525">
            <a:solidFill>
              <a:srgbClr val="4A5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Qualtrics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WebService task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(on survey complete)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2651760"/>
            <a:ext cx="2011680" cy="594360"/>
          </a:xfrm>
          <a:prstGeom prst="roundRect">
            <a:avLst/>
          </a:prstGeom>
          <a:solidFill>
            <a:srgbClr val="B8924A"/>
          </a:solidFill>
          <a:ln w="9525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qualtrics-intake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Worker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4206240"/>
            <a:ext cx="1600200" cy="777240"/>
          </a:xfrm>
          <a:prstGeom prst="roundRect">
            <a:avLst/>
          </a:prstGeom>
          <a:solidFill>
            <a:srgbClr val="9E1B32"/>
          </a:solidFill>
          <a:ln w="9525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REDCap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77439" y="2971800"/>
            <a:ext cx="914401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31720" y="256032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i="0" b="0">
                <a:solidFill>
                  <a:srgbClr val="24211F"/>
                </a:solidFill>
                <a:latin typeface="Calibri"/>
              </a:rPr>
              <a:t>"Sign Up" link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92040" y="2971800"/>
            <a:ext cx="1143000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892040" y="256032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i="0" b="0">
                <a:solidFill>
                  <a:srgbClr val="24211F"/>
                </a:solidFill>
                <a:latin typeface="Calibri"/>
              </a:rPr>
              <a:t>on completion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35240" y="2971800"/>
            <a:ext cx="1143000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680960" y="233172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0" b="0">
                <a:solidFill>
                  <a:srgbClr val="24211F"/>
                </a:solidFill>
                <a:latin typeface="Calibri"/>
              </a:rPr>
              <a:t>POST {email, event_date,
event_num, first_name,
orientation, sex}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784080" y="3246120"/>
            <a:ext cx="0" cy="96012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921240" y="352044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i="0" b="0">
                <a:solidFill>
                  <a:srgbClr val="24211F"/>
                </a:solidFill>
                <a:latin typeface="Calibri"/>
              </a:rPr>
              <a:t>REDCap
write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12080"/>
            <a:ext cx="10881360" cy="1051560"/>
          </a:xfrm>
          <a:prstGeom prst="roundRect">
            <a:avLst/>
          </a:prstGeom>
          <a:solidFill>
            <a:srgbClr val="F3E7D6"/>
          </a:solidFill>
          <a:ln w="15875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900" b="1">
                <a:solidFill>
                  <a:srgbClr val="6E1222"/>
                </a:solidFill>
                <a:latin typeface="Calibri"/>
              </a:rPr>
              <a:t>CONFIRMED VIA SCREENSHOT, NOT VIA REPO CODE</a:t>
            </a:r>
          </a:p>
          <a:p>
            <a:r>
              <a:rPr sz="1000">
                <a:solidFill>
                  <a:srgbClr val="24211F"/>
                </a:solidFill>
                <a:latin typeface="Calibri"/>
              </a:rPr>
              <a:t>The qualtrics-intake Worker's payload shape ({email, event_date, event_num, first_name, orientation, sex}) comes from a live Qualtrics WebService task screenshot shown to this session, not from repo code — the Worker is NOT referenced anywhere in this repo's HTML or CLAUDE.md. Intake happens entirely Qualtrics-side; GitHub Pages plays no role beyond linking to the survey.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4211F"/>
                </a:solidFill>
                <a:latin typeface="Cambria"/>
              </a:rPr>
              <a:t>Phase 2 — Pre-event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6B6259"/>
                </a:solidFill>
                <a:latin typeface="Calibri"/>
              </a:rPr>
              <a:t>Token-gated dashboard, modules 1–6, then module 7's different shape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828800" cy="548640"/>
          </a:xfrm>
          <a:prstGeom prst="roundRect">
            <a:avLst/>
          </a:prstGeom>
          <a:solidFill>
            <a:srgbClr val="FAF7F2"/>
          </a:solidFill>
          <a:ln w="9525">
            <a:solidFill>
              <a:srgbClr val="FAF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9E1B32"/>
                </a:solidFill>
                <a:latin typeface="Calibri"/>
              </a:rPr>
              <a:t>training/index.html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188720"/>
            <a:ext cx="1920240" cy="548640"/>
          </a:xfrm>
          <a:prstGeom prst="roundRect">
            <a:avLst/>
          </a:prstGeom>
          <a:solidFill>
            <a:srgbClr val="B8924A"/>
          </a:solidFill>
          <a:ln w="9525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resolve-token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Worker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1828800" cy="548640"/>
          </a:xfrm>
          <a:prstGeom prst="roundRect">
            <a:avLst/>
          </a:prstGeom>
          <a:solidFill>
            <a:srgbClr val="FAF7F2"/>
          </a:solidFill>
          <a:ln w="9525">
            <a:solidFill>
              <a:srgbClr val="FAF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9E1B32"/>
                </a:solidFill>
                <a:latin typeface="Calibri"/>
              </a:rPr>
              <a:t>module-1..6.html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286000"/>
            <a:ext cx="1920240" cy="548640"/>
          </a:xfrm>
          <a:prstGeom prst="roundRect">
            <a:avLst/>
          </a:prstGeom>
          <a:solidFill>
            <a:srgbClr val="B8924A"/>
          </a:solidFill>
          <a:ln w="9525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module{N}-submit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Worker (x6)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383280"/>
            <a:ext cx="1828800" cy="548640"/>
          </a:xfrm>
          <a:prstGeom prst="roundRect">
            <a:avLst/>
          </a:prstGeom>
          <a:solidFill>
            <a:srgbClr val="FAF7F2"/>
          </a:solidFill>
          <a:ln w="9525">
            <a:solidFill>
              <a:srgbClr val="FAF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9E1B32"/>
                </a:solidFill>
                <a:latin typeface="Calibri"/>
              </a:rPr>
              <a:t>module-7.html</a:t>
            </a:r>
          </a:p>
          <a:p>
            <a:pPr algn="ctr"/>
            <a:r>
              <a:rPr sz="850" b="0" i="0">
                <a:solidFill>
                  <a:srgbClr val="9E1B32"/>
                </a:solidFill>
                <a:latin typeface="Calibri"/>
              </a:rPr>
              <a:t>("Email me")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3383280"/>
            <a:ext cx="1920240" cy="548640"/>
          </a:xfrm>
          <a:prstGeom prst="roundRect">
            <a:avLst/>
          </a:prstGeom>
          <a:solidFill>
            <a:srgbClr val="B8924A"/>
          </a:solidFill>
          <a:ln w="9525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module7-planning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Worker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80560"/>
            <a:ext cx="1828800" cy="548640"/>
          </a:xfrm>
          <a:prstGeom prst="roundRect">
            <a:avLst/>
          </a:prstGeom>
          <a:solidFill>
            <a:srgbClr val="FAF7F2"/>
          </a:solidFill>
          <a:ln w="9525">
            <a:solidFill>
              <a:srgbClr val="FAF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9E1B32"/>
                </a:solidFill>
                <a:latin typeface="Calibri"/>
              </a:rPr>
              <a:t>practice-chat.html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4160520"/>
            <a:ext cx="1920240" cy="457200"/>
          </a:xfrm>
          <a:prstGeom prst="roundRect">
            <a:avLst/>
          </a:prstGeom>
          <a:solidFill>
            <a:srgbClr val="B8924A"/>
          </a:solidFill>
          <a:ln w="9525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chatEndpoint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4663440"/>
            <a:ext cx="1920240" cy="457200"/>
          </a:xfrm>
          <a:prstGeom prst="roundRect">
            <a:avLst/>
          </a:prstGeom>
          <a:solidFill>
            <a:srgbClr val="B8924A"/>
          </a:solidFill>
          <a:ln w="9525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feedbackEndpoint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5166360"/>
            <a:ext cx="1920240" cy="457200"/>
          </a:xfrm>
          <a:prstGeom prst="roundRect">
            <a:avLst/>
          </a:prstGeom>
          <a:solidFill>
            <a:srgbClr val="B8924A"/>
          </a:solidFill>
          <a:ln w="9525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logEndpoint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4160520"/>
            <a:ext cx="1737360" cy="685800"/>
          </a:xfrm>
          <a:prstGeom prst="roundRect">
            <a:avLst/>
          </a:prstGeom>
          <a:solidFill>
            <a:srgbClr val="4A5A66"/>
          </a:solidFill>
          <a:ln w="9525">
            <a:solidFill>
              <a:srgbClr val="4A5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OpenAI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gpt-4o-mini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1188720"/>
            <a:ext cx="1600200" cy="777240"/>
          </a:xfrm>
          <a:prstGeom prst="roundRect">
            <a:avLst/>
          </a:prstGeom>
          <a:solidFill>
            <a:srgbClr val="9E1B32"/>
          </a:solidFill>
          <a:ln w="9525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REDCap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86000" y="1463040"/>
            <a:ext cx="457200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663440" y="1463040"/>
            <a:ext cx="4114800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286000" y="2560320"/>
            <a:ext cx="457200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663440" y="1737360"/>
            <a:ext cx="4114800" cy="82296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286000" y="3657600"/>
            <a:ext cx="457200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663440" y="1920240"/>
            <a:ext cx="4114800" cy="173736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86000" y="4389120"/>
            <a:ext cx="457200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4892040"/>
            <a:ext cx="457200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286000" y="5394960"/>
            <a:ext cx="457200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663440" y="4389120"/>
            <a:ext cx="822960" cy="45720"/>
          </a:xfrm>
          <a:prstGeom prst="line">
            <a:avLst/>
          </a:prstGeom>
          <a:ln w="19050">
            <a:solidFill>
              <a:srgbClr val="40404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663440" y="2103120"/>
            <a:ext cx="4114800" cy="324612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989320" y="96012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i="0" b="0">
                <a:solidFill>
                  <a:srgbClr val="24211F"/>
                </a:solidFill>
                <a:latin typeface="Calibri"/>
              </a:rPr>
              <a:t>GET ?t=&lt;token&gt;
→ pid, first_name, condition,
module{n}_complete flags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196596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0" b="0">
                <a:solidFill>
                  <a:srgbClr val="24211F"/>
                </a:solidFill>
                <a:latin typeface="Calibri"/>
              </a:rPr>
              <a:t>POST m{N}_* fields
+ m{N}_started_ts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30632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0" b="0">
                <a:solidFill>
                  <a:srgbClr val="24211F"/>
                </a:solidFill>
                <a:latin typeface="Calibri"/>
              </a:rPr>
              <a:t>POST {token, m7_starters,
m7_topics, m7_followups}
— no completion flag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3840480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i="1" b="0">
                <a:solidFill>
                  <a:srgbClr val="6E1222"/>
                </a:solidFill>
                <a:latin typeface="Calibri"/>
              </a:rPr>
              <a:t>chat turn
(likely OpenAI-
proxied, unconfirmed)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55321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0" b="0">
                <a:solidFill>
                  <a:srgbClr val="24211F"/>
                </a:solidFill>
                <a:latin typeface="Calibri"/>
              </a:rPr>
              <a:t>POST final transcript +
feedback + duration_seconds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60720" y="5029200"/>
            <a:ext cx="5029200" cy="1417320"/>
          </a:xfrm>
          <a:prstGeom prst="roundRect">
            <a:avLst/>
          </a:prstGeom>
          <a:solidFill>
            <a:srgbClr val="F3E7D6"/>
          </a:solidFill>
          <a:ln w="15875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900" b="1">
                <a:solidFill>
                  <a:srgbClr val="6E1222"/>
                </a:solidFill>
                <a:latin typeface="Calibri"/>
              </a:rPr>
              <a:t>PER EXTERNAL SPEC — UNVERIFIED FROM REPO</a:t>
            </a:r>
          </a:p>
          <a:p>
            <a:r>
              <a:rPr sz="1000">
                <a:solidFill>
                  <a:srgbClr val="24211F"/>
                </a:solidFill>
                <a:latin typeface="Calibri"/>
              </a:rPr>
              <a:t>Module 7 is NOT a submit-and-complete flow like modules 1–6 — it's an "Email me these ideas" action with no completion/progress gating shown client-side. Whether module7-planning skips a server-side "overwrite guard" that other module Workers have is UNVERIFIABLE from this repo: no client-side JS shows such logic in module-1.html or module-7.html, and that logic (if it exists) would live in Worker source, which is not in this repo.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4211F"/>
                </a:solidFill>
                <a:latin typeface="Cambria"/>
              </a:rPr>
              <a:t>Phase 3 — Event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6B6259"/>
                </a:solidFill>
                <a:latin typeface="Calibri"/>
              </a:rPr>
              <a:t>Check-in issues a PID nametag; RAs enter per-date scorecards on iPads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1737360" cy="685800"/>
          </a:xfrm>
          <a:prstGeom prst="roundRect">
            <a:avLst/>
          </a:prstGeom>
          <a:solidFill>
            <a:srgbClr val="FAF7F2"/>
          </a:solidFill>
          <a:ln w="9525">
            <a:solidFill>
              <a:srgbClr val="FAF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9E1B32"/>
                </a:solidFill>
                <a:latin typeface="Calibri"/>
              </a:rPr>
              <a:t>checkin/index.html</a:t>
            </a:r>
          </a:p>
          <a:p>
            <a:pPr algn="ctr"/>
            <a:r>
              <a:rPr sz="950" b="0" i="0">
                <a:solidFill>
                  <a:srgbClr val="9E1B32"/>
                </a:solidFill>
                <a:latin typeface="Calibri"/>
              </a:rPr>
              <a:t>(participant)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2377440"/>
            <a:ext cx="1920240" cy="594360"/>
          </a:xfrm>
          <a:prstGeom prst="roundRect">
            <a:avLst/>
          </a:prstGeom>
          <a:solidFill>
            <a:srgbClr val="B8924A"/>
          </a:solidFill>
          <a:ln w="9525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checkin Worker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1737360" cy="685800"/>
          </a:xfrm>
          <a:prstGeom prst="roundRect">
            <a:avLst/>
          </a:prstGeom>
          <a:solidFill>
            <a:srgbClr val="FAF7F2"/>
          </a:solidFill>
          <a:ln w="9525">
            <a:solidFill>
              <a:srgbClr val="FAF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9E1B32"/>
                </a:solidFill>
                <a:latin typeface="Calibri"/>
              </a:rPr>
              <a:t>scorecard.html</a:t>
            </a:r>
          </a:p>
          <a:p>
            <a:pPr algn="ctr"/>
            <a:r>
              <a:rPr sz="950" b="0" i="0">
                <a:solidFill>
                  <a:srgbClr val="9E1B32"/>
                </a:solidFill>
                <a:latin typeface="Calibri"/>
              </a:rPr>
              <a:t>(RA, iPad)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4206240"/>
            <a:ext cx="1920240" cy="594360"/>
          </a:xfrm>
          <a:prstGeom prst="roundRect">
            <a:avLst/>
          </a:prstGeom>
          <a:solidFill>
            <a:srgbClr val="B8924A"/>
          </a:solidFill>
          <a:ln w="9525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scorecard-submit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Worker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3291840"/>
            <a:ext cx="1600200" cy="777240"/>
          </a:xfrm>
          <a:prstGeom prst="roundRect">
            <a:avLst/>
          </a:prstGeom>
          <a:solidFill>
            <a:srgbClr val="9E1B32"/>
          </a:solidFill>
          <a:ln w="9525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REDCap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68880" y="2697480"/>
            <a:ext cx="822960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0" y="22402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i="0" b="0">
                <a:solidFill>
                  <a:srgbClr val="24211F"/>
                </a:solidFill>
                <a:latin typeface="Calibri"/>
              </a:rPr>
              <a:t>POST /check-in
{email, state_nervous...state_ready}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212080" y="2697480"/>
            <a:ext cx="3840480" cy="82296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760720" y="28346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0" b="0">
                <a:solidFill>
                  <a:srgbClr val="24211F"/>
                </a:solidFill>
                <a:latin typeface="Calibri"/>
              </a:rPr>
              <a:t>returns {pid, first_name}
→ shown as nametag PID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68880" y="4526280"/>
            <a:ext cx="822960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0" y="402336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i="0" b="0">
                <a:solidFill>
                  <a:srgbClr val="24211F"/>
                </a:solidFill>
                <a:latin typeface="Calibri"/>
              </a:rPr>
              <a:t>POST /submit
{event, ra_input, rater_id, partner_id,
traits{...}, statements{...}, choice}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5212080" y="3703320"/>
            <a:ext cx="3840480" cy="82296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1520" y="5486400"/>
            <a:ext cx="10881360" cy="914400"/>
          </a:xfrm>
          <a:prstGeom prst="roundRect">
            <a:avLst/>
          </a:prstGeom>
          <a:solidFill>
            <a:srgbClr val="F3E7D6"/>
          </a:solidFill>
          <a:ln w="15875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900" b="1">
                <a:solidFill>
                  <a:srgbClr val="6E1222"/>
                </a:solidFill>
                <a:latin typeface="Calibri"/>
              </a:rPr>
              <a:t>PER EXTERNAL SPEC — UNVERIFIED FROM REPO</a:t>
            </a:r>
          </a:p>
          <a:p>
            <a:r>
              <a:rPr sz="1000">
                <a:solidFill>
                  <a:srgbClr val="24211F"/>
                </a:solidFill>
                <a:latin typeface="Calibri"/>
              </a:rPr>
              <a:t>Neither checkin nor scorecard-submit is TODO-marked, but checkin's URL comment says "update to your actual deployed Worker URL" — so both are the most-finished-looking Workers, but deployment status is not fully confirmed either way. scorecard.html also persists RA name/event/count locally (scorecard_event, scorecard_ra_input, scorecard_count) — client-only, never sent as PII.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4211F"/>
                </a:solidFill>
                <a:latin typeface="Cambria"/>
              </a:rPr>
              <a:t>Phase 4 — Post-event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6B6259"/>
                </a:solidFill>
                <a:latin typeface="Calibri"/>
              </a:rPr>
              <a:t>Admin triggers match computation, emailing, and a CSV export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51760"/>
            <a:ext cx="1737360" cy="685800"/>
          </a:xfrm>
          <a:prstGeom prst="roundRect">
            <a:avLst/>
          </a:prstGeom>
          <a:solidFill>
            <a:srgbClr val="FAF7F2"/>
          </a:solidFill>
          <a:ln w="9525">
            <a:solidFill>
              <a:srgbClr val="FAF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9E1B32"/>
                </a:solidFill>
                <a:latin typeface="Calibri"/>
              </a:rPr>
              <a:t>match-admin.html</a:t>
            </a:r>
          </a:p>
          <a:p>
            <a:pPr algn="ctr"/>
            <a:r>
              <a:rPr sz="950" b="0" i="0">
                <a:solidFill>
                  <a:srgbClr val="9E1B32"/>
                </a:solidFill>
                <a:latin typeface="Calibri"/>
              </a:rPr>
              <a:t>(admin, noindex)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2651760"/>
            <a:ext cx="2103120" cy="594360"/>
          </a:xfrm>
          <a:prstGeom prst="roundRect">
            <a:avLst/>
          </a:prstGeom>
          <a:solidFill>
            <a:srgbClr val="B8924A"/>
          </a:solidFill>
          <a:ln w="9525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compute-matches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Worker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0" y="1737360"/>
            <a:ext cx="1600200" cy="777240"/>
          </a:xfrm>
          <a:prstGeom prst="roundRect">
            <a:avLst/>
          </a:prstGeom>
          <a:solidFill>
            <a:srgbClr val="9E1B32"/>
          </a:solidFill>
          <a:ln w="9525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REDCap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3931920"/>
            <a:ext cx="1600200" cy="685800"/>
          </a:xfrm>
          <a:prstGeom prst="roundRect">
            <a:avLst/>
          </a:prstGeom>
          <a:solidFill>
            <a:srgbClr val="4A5A66"/>
          </a:solidFill>
          <a:ln w="9525">
            <a:solidFill>
              <a:srgbClr val="4A5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Email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(delivery mechanism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not in repo)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68880" y="2834640"/>
            <a:ext cx="914400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760720" y="2286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i="0" b="0">
                <a:solidFill>
                  <a:srgbClr val="24211F"/>
                </a:solidFill>
                <a:latin typeface="Calibri"/>
              </a:rPr>
              <a:t>POST {event, adminSecret}
→ compute + email matches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68880" y="3200400"/>
            <a:ext cx="914400" cy="0"/>
          </a:xfrm>
          <a:prstGeom prst="line">
            <a:avLst/>
          </a:prstGeom>
          <a:ln w="19050">
            <a:solidFill>
              <a:srgbClr val="40404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760720" y="32461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i="0" b="0">
                <a:solidFill>
                  <a:srgbClr val="24211F"/>
                </a:solidFill>
                <a:latin typeface="Calibri"/>
              </a:rPr>
              <a:t>POST {event, adminSecret,
format: "csv"} → CSV blob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5486400" y="2148840"/>
            <a:ext cx="3566160" cy="59436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675120" y="23317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0" b="0">
                <a:solidFill>
                  <a:srgbClr val="24211F"/>
                </a:solidFill>
                <a:latin typeface="Calibri"/>
              </a:rPr>
              <a:t>read scorecards/attendees,
write match_summary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0" y="3063240"/>
            <a:ext cx="3566160" cy="114300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675120" y="35661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1" b="0">
                <a:solidFill>
                  <a:srgbClr val="6E1222"/>
                </a:solidFill>
                <a:latin typeface="Calibri"/>
              </a:rPr>
              <a:t>send match emails
(mechanism unconfirmed)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120640"/>
            <a:ext cx="10881360" cy="1188720"/>
          </a:xfrm>
          <a:prstGeom prst="roundRect">
            <a:avLst/>
          </a:prstGeom>
          <a:solidFill>
            <a:srgbClr val="F3E7D6"/>
          </a:solidFill>
          <a:ln w="15875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900" b="1">
                <a:solidFill>
                  <a:srgbClr val="6E1222"/>
                </a:solidFill>
                <a:latin typeface="Calibri"/>
              </a:rPr>
              <a:t>PER EXTERNAL SPEC — UNVERIFIED FROM REPO</a:t>
            </a:r>
          </a:p>
          <a:p>
            <a:r>
              <a:rPr sz="1000">
                <a:solidFill>
                  <a:srgbClr val="24211F"/>
                </a:solidFill>
                <a:latin typeface="Calibri"/>
              </a:rPr>
              <a:t>Response includes attendeesFound, mutualMatchesFound, peopleProcessed, alreadyProcessedSkipped, and diagnostics (unresolved partner PIDs, row counts) — "Safe to re-run — already-notified pairs are skipped" per the page's own copy. The CSV download flow explicitly reminds the admin: "Move it to Box/OneDrive per IRB storage requirements — don't leave it sitting in Downloads," i.e. the page itself treats the CSV as PII that must not rest locally.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E1B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Sequence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661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E8CECE"/>
                </a:solidFill>
                <a:latin typeface="Calibri"/>
              </a:rPr>
              <a:t>Time-ordered call sequences, from confirmed client-side behavior only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514600"/>
            <a:ext cx="822960" cy="54864"/>
          </a:xfrm>
          <a:prstGeom prst="rect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4211F"/>
                </a:solidFill>
                <a:latin typeface="Cambria"/>
              </a:rPr>
              <a:t>End-to-end Sequence —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6B6259"/>
                </a:solidFill>
                <a:latin typeface="Calibri"/>
              </a:rPr>
              <a:t>6–8 steps, phrased to match only what the repo actually confirms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1143000"/>
            <a:ext cx="1554480" cy="548640"/>
          </a:xfrm>
          <a:prstGeom prst="roundRect">
            <a:avLst/>
          </a:prstGeom>
          <a:solidFill>
            <a:srgbClr val="FAF7F2"/>
          </a:solidFill>
          <a:ln w="9525">
            <a:solidFill>
              <a:srgbClr val="FAF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9E1B32"/>
                </a:solidFill>
                <a:latin typeface="Calibri"/>
              </a:rPr>
              <a:t>Participant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691640"/>
            <a:ext cx="0" cy="46177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148840" y="1143000"/>
            <a:ext cx="1554480" cy="548640"/>
          </a:xfrm>
          <a:prstGeom prst="roundRect">
            <a:avLst/>
          </a:prstGeom>
          <a:solidFill>
            <a:srgbClr val="4A5A66"/>
          </a:solidFill>
          <a:ln w="9525">
            <a:solidFill>
              <a:srgbClr val="4A5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Qualtrics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26080" y="1691640"/>
            <a:ext cx="0" cy="46177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160520" y="1143000"/>
            <a:ext cx="1554480" cy="548640"/>
          </a:xfrm>
          <a:prstGeom prst="roundRect">
            <a:avLst/>
          </a:prstGeom>
          <a:solidFill>
            <a:srgbClr val="B8924A"/>
          </a:solidFill>
          <a:ln w="9525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Workers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(various)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37760" y="1691640"/>
            <a:ext cx="0" cy="46177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172200" y="1143000"/>
            <a:ext cx="1554480" cy="548640"/>
          </a:xfrm>
          <a:prstGeom prst="roundRect">
            <a:avLst/>
          </a:prstGeom>
          <a:solidFill>
            <a:srgbClr val="FAF7F2"/>
          </a:solidFill>
          <a:ln w="9525">
            <a:solidFill>
              <a:srgbClr val="FAF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9E1B32"/>
                </a:solidFill>
                <a:latin typeface="Calibri"/>
              </a:rPr>
              <a:t>training/</a:t>
            </a:r>
          </a:p>
          <a:p>
            <a:pPr algn="ctr"/>
            <a:r>
              <a:rPr sz="800" b="0" i="0">
                <a:solidFill>
                  <a:srgbClr val="9E1B32"/>
                </a:solidFill>
                <a:latin typeface="Calibri"/>
              </a:rPr>
              <a:t>index.html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949440" y="1691640"/>
            <a:ext cx="0" cy="46177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83880" y="1143000"/>
            <a:ext cx="1554480" cy="548640"/>
          </a:xfrm>
          <a:prstGeom prst="roundRect">
            <a:avLst/>
          </a:prstGeom>
          <a:solidFill>
            <a:srgbClr val="FAF7F2"/>
          </a:solidFill>
          <a:ln w="9525">
            <a:solidFill>
              <a:srgbClr val="FAF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9E1B32"/>
                </a:solidFill>
                <a:latin typeface="Calibri"/>
              </a:rPr>
              <a:t>Event-day</a:t>
            </a:r>
          </a:p>
          <a:p>
            <a:pPr algn="ctr"/>
            <a:r>
              <a:rPr sz="800" b="0" i="0">
                <a:solidFill>
                  <a:srgbClr val="9E1B32"/>
                </a:solidFill>
                <a:latin typeface="Calibri"/>
              </a:rPr>
              <a:t>pages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961120" y="1691640"/>
            <a:ext cx="0" cy="46177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195560" y="1143000"/>
            <a:ext cx="1554480" cy="548640"/>
          </a:xfrm>
          <a:prstGeom prst="roundRect">
            <a:avLst/>
          </a:prstGeom>
          <a:solidFill>
            <a:srgbClr val="9E1B32"/>
          </a:solidFill>
          <a:ln w="9525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REDCap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972800" y="1691640"/>
            <a:ext cx="0" cy="46177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4400" y="1965960"/>
            <a:ext cx="2011680" cy="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1673351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0" b="0">
                <a:solidFill>
                  <a:srgbClr val="24211F"/>
                </a:solidFill>
                <a:latin typeface="Calibri"/>
              </a:rPr>
              <a:t>1. Completes Qualtrics
recruitment/eligibility survey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26080" y="2532888"/>
            <a:ext cx="2011680" cy="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743200" y="22402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0" b="0">
                <a:solidFill>
                  <a:srgbClr val="24211F"/>
                </a:solidFill>
                <a:latin typeface="Calibri"/>
              </a:rPr>
              <a:t>2. Qualtrics WebService posts
intake fields to qualtrics-intake Worker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37760" y="3099816"/>
            <a:ext cx="6035040" cy="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766559" y="280720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0" b="0">
                <a:solidFill>
                  <a:srgbClr val="24211F"/>
                </a:solidFill>
                <a:latin typeface="Calibri"/>
              </a:rPr>
              <a:t>3. Worker writes intake fields to REDCap
(exact write path not confirmed in repo)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4400" y="3666744"/>
            <a:ext cx="6035040" cy="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743200" y="3374136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0" b="0">
                <a:solidFill>
                  <a:srgbClr val="24211F"/>
                </a:solidFill>
                <a:latin typeface="Calibri"/>
              </a:rPr>
              <a:t>4. Participant reaches training dashboard
via a token link (?token=...)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4937760" y="4233672"/>
            <a:ext cx="2011680" cy="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754880" y="3941063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0" b="0">
                <a:solidFill>
                  <a:srgbClr val="24211F"/>
                </a:solidFill>
                <a:latin typeface="Calibri"/>
              </a:rPr>
              <a:t>5. GET resolve-token?t=&lt;token&gt; →
module completion flags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4400" y="4800600"/>
            <a:ext cx="4023360" cy="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737360" y="450799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0" b="0">
                <a:solidFill>
                  <a:srgbClr val="24211F"/>
                </a:solidFill>
                <a:latin typeface="Calibri"/>
              </a:rPr>
              <a:t>6. Completes modules 1–6 (and module 7's
planning + practice-chat flow) via per-module Workers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4400" y="5367528"/>
            <a:ext cx="8046720" cy="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749040" y="507492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0" b="0">
                <a:solidFill>
                  <a:srgbClr val="24211F"/>
                </a:solidFill>
                <a:latin typeface="Calibri"/>
              </a:rPr>
              <a:t>7. Checks in day-of (checkin Worker returns a PID);
RAs log per-date scorecards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961120" y="5934456"/>
            <a:ext cx="2011680" cy="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778240" y="564184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0" b="0">
                <a:solidFill>
                  <a:srgbClr val="24211F"/>
                </a:solidFill>
                <a:latin typeface="Calibri"/>
              </a:rPr>
              <a:t>8. Admin runs match-admin.html →
compute-matches Worker → REDCap + email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4211F"/>
                </a:solidFill>
                <a:latin typeface="Cambria"/>
              </a:rPr>
              <a:t>Sequence — Pre-event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6B6259"/>
                </a:solidFill>
                <a:latin typeface="Calibri"/>
              </a:rPr>
              <a:t>training/index.html through module 7 and practice-chat.html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79" y="1143000"/>
            <a:ext cx="1691640" cy="548640"/>
          </a:xfrm>
          <a:prstGeom prst="roundRect">
            <a:avLst/>
          </a:prstGeom>
          <a:solidFill>
            <a:srgbClr val="FAF7F2"/>
          </a:solidFill>
          <a:ln w="9525">
            <a:solidFill>
              <a:srgbClr val="FAF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9E1B32"/>
                </a:solidFill>
                <a:latin typeface="Calibri"/>
              </a:rPr>
              <a:t>Participant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691640"/>
            <a:ext cx="0" cy="452628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988819" y="1143000"/>
            <a:ext cx="1691640" cy="548640"/>
          </a:xfrm>
          <a:prstGeom prst="roundRect">
            <a:avLst/>
          </a:prstGeom>
          <a:solidFill>
            <a:srgbClr val="FAF7F2"/>
          </a:solidFill>
          <a:ln w="9525">
            <a:solidFill>
              <a:srgbClr val="FAF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9E1B32"/>
                </a:solidFill>
                <a:latin typeface="Calibri"/>
              </a:rPr>
              <a:t>training/</a:t>
            </a:r>
          </a:p>
          <a:p>
            <a:pPr algn="ctr"/>
            <a:r>
              <a:rPr sz="800" b="0" i="0">
                <a:solidFill>
                  <a:srgbClr val="9E1B32"/>
                </a:solidFill>
                <a:latin typeface="Calibri"/>
              </a:rPr>
              <a:t>index.html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34640" y="1691640"/>
            <a:ext cx="0" cy="452628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000500" y="1143000"/>
            <a:ext cx="1691640" cy="548640"/>
          </a:xfrm>
          <a:prstGeom prst="roundRect">
            <a:avLst/>
          </a:prstGeom>
          <a:solidFill>
            <a:srgbClr val="B8924A"/>
          </a:solidFill>
          <a:ln w="9525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resolve-token /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module Workers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46320" y="1691640"/>
            <a:ext cx="0" cy="452628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103620" y="1143000"/>
            <a:ext cx="1691640" cy="548640"/>
          </a:xfrm>
          <a:prstGeom prst="roundRect">
            <a:avLst/>
          </a:prstGeom>
          <a:solidFill>
            <a:srgbClr val="FAF7F2"/>
          </a:solidFill>
          <a:ln w="9525">
            <a:solidFill>
              <a:srgbClr val="FAF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9E1B32"/>
                </a:solidFill>
                <a:latin typeface="Calibri"/>
              </a:rPr>
              <a:t>module-7 /</a:t>
            </a:r>
          </a:p>
          <a:p>
            <a:pPr algn="ctr"/>
            <a:r>
              <a:rPr sz="800" b="0" i="0">
                <a:solidFill>
                  <a:srgbClr val="9E1B32"/>
                </a:solidFill>
                <a:latin typeface="Calibri"/>
              </a:rPr>
              <a:t>practice-chat.html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949440" y="1691640"/>
            <a:ext cx="0" cy="452628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98179" y="1143000"/>
            <a:ext cx="1691640" cy="548640"/>
          </a:xfrm>
          <a:prstGeom prst="roundRect">
            <a:avLst/>
          </a:prstGeom>
          <a:solidFill>
            <a:srgbClr val="B8924A"/>
          </a:solidFill>
          <a:ln w="9525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chat/feedback/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log Workers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0" y="1691640"/>
            <a:ext cx="0" cy="452628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218419" y="1143000"/>
            <a:ext cx="1691640" cy="548640"/>
          </a:xfrm>
          <a:prstGeom prst="roundRect">
            <a:avLst/>
          </a:prstGeom>
          <a:solidFill>
            <a:srgbClr val="4A5A66"/>
          </a:solidFill>
          <a:ln w="9525">
            <a:solidFill>
              <a:srgbClr val="4A5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OpenAI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064240" y="1691640"/>
            <a:ext cx="0" cy="452628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4400" y="1965960"/>
            <a:ext cx="1920240" cy="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799" y="1673351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0" b="0">
                <a:solidFill>
                  <a:srgbClr val="24211F"/>
                </a:solidFill>
                <a:latin typeface="Calibri"/>
              </a:rPr>
              <a:t>1. Opens training/index.html?token=X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834640" y="2423160"/>
            <a:ext cx="2011680" cy="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651760" y="21305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0" b="0">
                <a:solidFill>
                  <a:srgbClr val="24211F"/>
                </a:solidFill>
                <a:latin typeface="Calibri"/>
              </a:rPr>
              <a:t>2. GET resolve-token?t=X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2834640" y="2880360"/>
            <a:ext cx="2011680" cy="0"/>
          </a:xfrm>
          <a:prstGeom prst="line">
            <a:avLst/>
          </a:prstGeom>
          <a:ln w="15875">
            <a:solidFill>
              <a:srgbClr val="40404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651760" y="25877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0" b="0">
                <a:solidFill>
                  <a:srgbClr val="24211F"/>
                </a:solidFill>
                <a:latin typeface="Calibri"/>
              </a:rPr>
              <a:t>3. { pid, first_name, condition,
module{n}_complete }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914400" y="3337560"/>
            <a:ext cx="1920240" cy="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799" y="30449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0" b="0">
                <a:solidFill>
                  <a:srgbClr val="24211F"/>
                </a:solidFill>
                <a:latin typeface="Calibri"/>
              </a:rPr>
              <a:t>4. Renders dashboard;
participant opens module 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4400" y="3794760"/>
            <a:ext cx="3931920" cy="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691639" y="3502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0" b="0">
                <a:solidFill>
                  <a:srgbClr val="24211F"/>
                </a:solidFill>
                <a:latin typeface="Calibri"/>
              </a:rPr>
              <a:t>5. On completion, module-N.html POSTs
m{N}_* fields + m{N}_started_ts (x6)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4400" y="4251960"/>
            <a:ext cx="6035040" cy="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743200" y="39593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0" b="0">
                <a:solidFill>
                  <a:srgbClr val="24211F"/>
                </a:solidFill>
                <a:latin typeface="Calibri"/>
              </a:rPr>
              <a:t>6. Continues to module-7.html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4846320" y="4709160"/>
            <a:ext cx="2103120" cy="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709159" y="44165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0" b="0">
                <a:solidFill>
                  <a:srgbClr val="24211F"/>
                </a:solidFill>
                <a:latin typeface="Calibri"/>
              </a:rPr>
              <a:t>7. "Email me" → POST {token, m7_starters,
m7_topics, m7_followups} — no completion flag returned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49440" y="5212080"/>
            <a:ext cx="2194560" cy="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858000" y="491947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0" b="0">
                <a:solidFill>
                  <a:srgbClr val="24211F"/>
                </a:solidFill>
                <a:latin typeface="Calibri"/>
              </a:rPr>
              <a:t>8. Continues to practice-chat.html;
POST to chatEndpoint per turn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44000" y="5669280"/>
            <a:ext cx="1920240" cy="0"/>
          </a:xfrm>
          <a:prstGeom prst="line">
            <a:avLst/>
          </a:prstGeom>
          <a:ln w="15875">
            <a:solidFill>
              <a:srgbClr val="6E122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915400" y="537667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0" b="0">
                <a:solidFill>
                  <a:srgbClr val="24211F"/>
                </a:solidFill>
                <a:latin typeface="Calibri"/>
              </a:rPr>
              <a:t>9. chatEndpoint call (likely OpenAI-
proxied — inferred, not confirmed)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949440" y="6126480"/>
            <a:ext cx="2194560" cy="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858000" y="583387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0" b="0">
                <a:solidFill>
                  <a:srgbClr val="24211F"/>
                </a:solidFill>
                <a:latin typeface="Calibri"/>
              </a:rPr>
              <a:t>10. Timer ends → POST feedbackEndpoint,
then POST logEndpoint (final save)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806440"/>
            <a:ext cx="11064240" cy="868680"/>
          </a:xfrm>
          <a:prstGeom prst="roundRect">
            <a:avLst/>
          </a:prstGeom>
          <a:solidFill>
            <a:srgbClr val="F3E7D6"/>
          </a:solidFill>
          <a:ln w="15875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900" b="1">
                <a:solidFill>
                  <a:srgbClr val="6E1222"/>
                </a:solidFill>
                <a:latin typeface="Calibri"/>
              </a:rPr>
              <a:t>PER EXTERNAL SPEC — UNVERIFIED FROM REPO</a:t>
            </a:r>
          </a:p>
          <a:p>
            <a:r>
              <a:rPr sz="1000">
                <a:solidFill>
                  <a:srgbClr val="24211F"/>
                </a:solidFill>
                <a:latin typeface="Calibri"/>
              </a:rPr>
              <a:t>Two claims shown ONLY as flagged annotations, not confirmed behavior: (a) REDCap Alerts firing only on "conditional logic during import" vs. "record saved on form" is REDCap platform behavior, unconfirmable from this repo's client JS. (b) module7-planning "skipping the overwrite guard" other module Workers have is unverifiable — no client-side JS in this repo shows overwrite-guard logic for ANY module, since that logic would live server-side in Worker code not present here.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4211F"/>
                </a:solidFill>
                <a:latin typeface="Cambria"/>
              </a:rPr>
              <a:t>Sequence — Event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6B6259"/>
                </a:solidFill>
                <a:latin typeface="Calibri"/>
              </a:rPr>
              <a:t>Check-in issues a PID; RAs log per-date scorecards through the event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143000"/>
            <a:ext cx="1737360" cy="548640"/>
          </a:xfrm>
          <a:prstGeom prst="roundRect">
            <a:avLst/>
          </a:prstGeom>
          <a:solidFill>
            <a:srgbClr val="FAF7F2"/>
          </a:solidFill>
          <a:ln w="9525">
            <a:solidFill>
              <a:srgbClr val="FAF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9E1B32"/>
                </a:solidFill>
                <a:latin typeface="Calibri"/>
              </a:rPr>
              <a:t>Participant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188720" y="1691640"/>
            <a:ext cx="0" cy="41605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88920" y="1143000"/>
            <a:ext cx="1737360" cy="548640"/>
          </a:xfrm>
          <a:prstGeom prst="roundRect">
            <a:avLst/>
          </a:prstGeom>
          <a:solidFill>
            <a:srgbClr val="FAF7F2"/>
          </a:solidFill>
          <a:ln w="9525">
            <a:solidFill>
              <a:srgbClr val="FAF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9E1B32"/>
                </a:solidFill>
                <a:latin typeface="Calibri"/>
              </a:rPr>
              <a:t>checkin/</a:t>
            </a:r>
          </a:p>
          <a:p>
            <a:pPr algn="ctr"/>
            <a:r>
              <a:rPr sz="800" b="0" i="0">
                <a:solidFill>
                  <a:srgbClr val="9E1B32"/>
                </a:solidFill>
                <a:latin typeface="Calibri"/>
              </a:rPr>
              <a:t>index.html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0" y="1691640"/>
            <a:ext cx="0" cy="41605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257800" y="1143000"/>
            <a:ext cx="1737360" cy="548640"/>
          </a:xfrm>
          <a:prstGeom prst="roundRect">
            <a:avLst/>
          </a:prstGeom>
          <a:solidFill>
            <a:srgbClr val="B8924A"/>
          </a:solidFill>
          <a:ln w="9525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checkin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Worker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0" y="1691640"/>
            <a:ext cx="0" cy="41605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726680" y="1143000"/>
            <a:ext cx="1737360" cy="548640"/>
          </a:xfrm>
          <a:prstGeom prst="roundRect">
            <a:avLst/>
          </a:prstGeom>
          <a:solidFill>
            <a:srgbClr val="FAF7F2"/>
          </a:solidFill>
          <a:ln w="9525">
            <a:solidFill>
              <a:srgbClr val="FAF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9E1B32"/>
                </a:solidFill>
                <a:latin typeface="Calibri"/>
              </a:rPr>
              <a:t>RA /</a:t>
            </a:r>
          </a:p>
          <a:p>
            <a:pPr algn="ctr"/>
            <a:r>
              <a:rPr sz="800" b="0" i="0">
                <a:solidFill>
                  <a:srgbClr val="9E1B32"/>
                </a:solidFill>
                <a:latin typeface="Calibri"/>
              </a:rPr>
              <a:t>scorecard.html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595360" y="1691640"/>
            <a:ext cx="0" cy="41605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104120" y="1143000"/>
            <a:ext cx="1737360" cy="548640"/>
          </a:xfrm>
          <a:prstGeom prst="roundRect">
            <a:avLst/>
          </a:prstGeom>
          <a:solidFill>
            <a:srgbClr val="B8924A"/>
          </a:solidFill>
          <a:ln w="9525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scorecard-submit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Worker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972800" y="1691640"/>
            <a:ext cx="0" cy="41605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88720" y="2011680"/>
            <a:ext cx="2468880" cy="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234439" y="171907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0" b="0">
                <a:solidFill>
                  <a:srgbClr val="24211F"/>
                </a:solidFill>
                <a:latin typeface="Calibri"/>
              </a:rPr>
              <a:t>1. Enters email + 7 state ratings
(nervous...ready, 1–5)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57600" y="2514600"/>
            <a:ext cx="2468880" cy="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703320" y="222199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0" b="0">
                <a:solidFill>
                  <a:srgbClr val="24211F"/>
                </a:solidFill>
                <a:latin typeface="Calibri"/>
              </a:rPr>
              <a:t>2. POST /check-in
{email, state_nervous...state_ready}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657600" y="3017520"/>
            <a:ext cx="2468880" cy="0"/>
          </a:xfrm>
          <a:prstGeom prst="line">
            <a:avLst/>
          </a:prstGeom>
          <a:ln w="15875">
            <a:solidFill>
              <a:srgbClr val="40404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703320" y="272491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0" b="0">
                <a:solidFill>
                  <a:srgbClr val="24211F"/>
                </a:solidFill>
                <a:latin typeface="Calibri"/>
              </a:rPr>
              <a:t>3. Returns {pid, first_name}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1188720" y="3520439"/>
            <a:ext cx="2468880" cy="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234439" y="322783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0" b="0">
                <a:solidFill>
                  <a:srgbClr val="24211F"/>
                </a:solidFill>
                <a:latin typeface="Calibri"/>
              </a:rPr>
              <a:t>4. Confirmation screen shows PID
("goes on your nametag")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88720" y="4023359"/>
            <a:ext cx="7406640" cy="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703320" y="3730751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0" b="0">
                <a:solidFill>
                  <a:srgbClr val="24211F"/>
                </a:solidFill>
                <a:latin typeface="Calibri"/>
              </a:rPr>
              <a:t>5. During each date, RA rates traits
(1–10) + statements (1–7) + "see again?"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95360" y="4526279"/>
            <a:ext cx="2377440" cy="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595359" y="4233671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0" b="0">
                <a:solidFill>
                  <a:srgbClr val="24211F"/>
                </a:solidFill>
                <a:latin typeface="Calibri"/>
              </a:rPr>
              <a:t>6. POST /submit {event, ra_input,
rater_id, partner_id, traits{}, statements{}, choice}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1188720" y="5029199"/>
            <a:ext cx="7406640" cy="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703320" y="4736591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0" b="0">
                <a:solidFill>
                  <a:srgbClr val="24211F"/>
                </a:solidFill>
                <a:latin typeface="Calibri"/>
              </a:rPr>
              <a:t>7. RA repeats per date for the
rest of the event (session counter local only)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4211F"/>
                </a:solidFill>
                <a:latin typeface="Cambria"/>
              </a:rPr>
              <a:t>Sequence — Post-event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6B6259"/>
                </a:solidFill>
                <a:latin typeface="Calibri"/>
              </a:rPr>
              <a:t>match-admin.html triggers computation, emailing, and CSV export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43000"/>
            <a:ext cx="1828800" cy="548640"/>
          </a:xfrm>
          <a:prstGeom prst="roundRect">
            <a:avLst/>
          </a:prstGeom>
          <a:solidFill>
            <a:srgbClr val="FAF7F2"/>
          </a:solidFill>
          <a:ln w="9525">
            <a:solidFill>
              <a:srgbClr val="FAF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9E1B32"/>
                </a:solidFill>
                <a:latin typeface="Calibri"/>
              </a:rPr>
              <a:t>Admin / RA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463040" y="1691640"/>
            <a:ext cx="0" cy="41605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0" y="1143000"/>
            <a:ext cx="1828800" cy="548640"/>
          </a:xfrm>
          <a:prstGeom prst="roundRect">
            <a:avLst/>
          </a:prstGeom>
          <a:solidFill>
            <a:srgbClr val="FAF7F2"/>
          </a:solidFill>
          <a:ln w="9525">
            <a:solidFill>
              <a:srgbClr val="FAF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9E1B32"/>
                </a:solidFill>
                <a:latin typeface="Calibri"/>
              </a:rPr>
              <a:t>match-admin.html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1691640"/>
            <a:ext cx="0" cy="41605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949440" y="1143000"/>
            <a:ext cx="1828800" cy="548640"/>
          </a:xfrm>
          <a:prstGeom prst="roundRect">
            <a:avLst/>
          </a:prstGeom>
          <a:solidFill>
            <a:srgbClr val="B8924A"/>
          </a:solidFill>
          <a:ln w="9525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compute-matches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Worker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63840" y="1691640"/>
            <a:ext cx="0" cy="41605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784080" y="1143000"/>
            <a:ext cx="1828800" cy="548640"/>
          </a:xfrm>
          <a:prstGeom prst="roundRect">
            <a:avLst/>
          </a:prstGeom>
          <a:solidFill>
            <a:srgbClr val="9E1B32"/>
          </a:solidFill>
          <a:ln w="9525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REDCap /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Email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698480" y="1691640"/>
            <a:ext cx="0" cy="41605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463040" y="2011680"/>
            <a:ext cx="3108960" cy="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28799" y="171907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0" b="0">
                <a:solidFill>
                  <a:srgbClr val="24211F"/>
                </a:solidFill>
                <a:latin typeface="Calibri"/>
              </a:rPr>
              <a:t>1. Enters event number + admin password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2514600"/>
            <a:ext cx="3291840" cy="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0" y="222199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0" b="0">
                <a:solidFill>
                  <a:srgbClr val="24211F"/>
                </a:solidFill>
                <a:latin typeface="Calibri"/>
              </a:rPr>
              <a:t>2. POST {event, adminSecret}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63840" y="3017520"/>
            <a:ext cx="2834640" cy="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092439" y="272491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0" b="0">
                <a:solidFill>
                  <a:srgbClr val="24211F"/>
                </a:solidFill>
                <a:latin typeface="Calibri"/>
              </a:rPr>
              <a:t>3. Reads scorecards/attendees,
writes match_summary, sends emails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4572000" y="3520439"/>
            <a:ext cx="3291840" cy="0"/>
          </a:xfrm>
          <a:prstGeom prst="line">
            <a:avLst/>
          </a:prstGeom>
          <a:ln w="15875">
            <a:solidFill>
              <a:srgbClr val="40404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0" y="322783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0" b="0">
                <a:solidFill>
                  <a:srgbClr val="24211F"/>
                </a:solidFill>
                <a:latin typeface="Calibri"/>
              </a:rPr>
              <a:t>4. Returns { attendeesFound,
mutualMatchesFound, peopleProcessed, diagnostics }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63040" y="4069079"/>
            <a:ext cx="3108960" cy="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828799" y="3776471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0" b="0">
                <a:solidFill>
                  <a:srgbClr val="24211F"/>
                </a:solidFill>
                <a:latin typeface="Calibri"/>
              </a:rPr>
              <a:t>5. (Optional) clicks "Download CSV Summary"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72000" y="4571999"/>
            <a:ext cx="3291840" cy="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0" y="4279391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0" b="0">
                <a:solidFill>
                  <a:srgbClr val="24211F"/>
                </a:solidFill>
                <a:latin typeface="Calibri"/>
              </a:rPr>
              <a:t>6. POST {event, adminSecret, format: "csv"}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1463040" y="5074919"/>
            <a:ext cx="6400800" cy="0"/>
          </a:xfrm>
          <a:prstGeom prst="line">
            <a:avLst/>
          </a:prstGeom>
          <a:ln w="15875">
            <a:solidFill>
              <a:srgbClr val="40404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474720" y="4782311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0" b="0">
                <a:solidFill>
                  <a:srgbClr val="24211F"/>
                </a:solidFill>
                <a:latin typeface="Calibri"/>
              </a:rPr>
              <a:t>7. Returns CSV blob — downloaded locally,
admin moves it to Box/OneDrive per IRB note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E1B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Data Flow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661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E8CECE"/>
                </a:solidFill>
                <a:latin typeface="Calibri"/>
              </a:rPr>
              <a:t>Tracking data, not calls — the IRB-relevant question: where does PII rest?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514600"/>
            <a:ext cx="822960" cy="54864"/>
          </a:xfrm>
          <a:prstGeom prst="rect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4211F"/>
                </a:solidFill>
                <a:latin typeface="Cambria"/>
              </a:rPr>
              <a:t>Data Flow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6B6259"/>
                </a:solidFill>
                <a:latin typeface="Calibri"/>
              </a:rPr>
              <a:t>Solid fill = data at rest. Dashed border = ephemeral / in-transit (not persisted there).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1737360" cy="685800"/>
          </a:xfrm>
          <a:prstGeom prst="roundRect">
            <a:avLst/>
          </a:prstGeom>
          <a:solidFill>
            <a:srgbClr val="FAF7F2"/>
          </a:solidFill>
          <a:ln w="9525">
            <a:solidFill>
              <a:srgbClr val="FAF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9E1B32"/>
                </a:solidFill>
                <a:latin typeface="Calibri"/>
              </a:rPr>
              <a:t>GitHub Pages</a:t>
            </a:r>
          </a:p>
          <a:p>
            <a:pPr algn="ctr"/>
            <a:r>
              <a:rPr sz="900" b="0" i="0">
                <a:solidFill>
                  <a:srgbClr val="9E1B32"/>
                </a:solidFill>
                <a:latin typeface="Calibri"/>
              </a:rPr>
              <a:t>(no data at rest)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480560"/>
            <a:ext cx="1600200" cy="685800"/>
          </a:xfrm>
          <a:prstGeom prst="roundRect">
            <a:avLst/>
          </a:prstGeom>
          <a:solidFill>
            <a:srgbClr val="4A5A66"/>
          </a:solidFill>
          <a:ln w="19050">
            <a:solidFill>
              <a:srgbClr val="40404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Qualtrics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2377440"/>
            <a:ext cx="2103120" cy="1280160"/>
          </a:xfrm>
          <a:prstGeom prst="roundRect">
            <a:avLst/>
          </a:prstGeom>
          <a:solidFill>
            <a:srgbClr val="B8924A"/>
          </a:solidFill>
          <a:ln w="19050">
            <a:solidFill>
              <a:srgbClr val="40404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Cloudflare Workers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(ephemeral — in-memory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pass-through only)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463040"/>
            <a:ext cx="1600200" cy="777240"/>
          </a:xfrm>
          <a:prstGeom prst="roundRect">
            <a:avLst/>
          </a:prstGeom>
          <a:solidFill>
            <a:srgbClr val="9E1B32"/>
          </a:solidFill>
          <a:ln w="9525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REDCap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(PII at rest)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4480560"/>
            <a:ext cx="1600200" cy="685800"/>
          </a:xfrm>
          <a:prstGeom prst="roundRect">
            <a:avLst/>
          </a:prstGeom>
          <a:solidFill>
            <a:srgbClr val="4A5A66"/>
          </a:solidFill>
          <a:ln w="19050">
            <a:solidFill>
              <a:srgbClr val="40404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OpenAI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(transcript in transit,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not persisted here)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77439" y="2720340"/>
            <a:ext cx="2468881" cy="114300"/>
          </a:xfrm>
          <a:prstGeom prst="line">
            <a:avLst/>
          </a:prstGeom>
          <a:ln w="19050">
            <a:solidFill>
              <a:srgbClr val="40404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468879" y="22631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i="0" b="0">
                <a:solidFill>
                  <a:srgbClr val="24211F"/>
                </a:solidFill>
                <a:latin typeface="Calibri"/>
              </a:rPr>
              <a:t>form inputs
(ratings, email, tokens)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6949440" y="1851660"/>
            <a:ext cx="2103120" cy="98298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995160" y="242316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0" b="1">
                <a:solidFill>
                  <a:srgbClr val="6E1222"/>
                </a:solidFill>
                <a:latin typeface="Calibri"/>
              </a:rPr>
              <a:t>PII lands here —
never on GitHub/Cloudflare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240280" y="3291840"/>
            <a:ext cx="2606040" cy="1531620"/>
          </a:xfrm>
          <a:prstGeom prst="line">
            <a:avLst/>
          </a:prstGeom>
          <a:ln w="19050">
            <a:solidFill>
              <a:srgbClr val="40404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86000" y="47548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0" b="0">
                <a:solidFill>
                  <a:srgbClr val="24211F"/>
                </a:solidFill>
                <a:latin typeface="Calibri"/>
              </a:rPr>
              <a:t>email, event_date, event_num,
first_name, orientation, sex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49440" y="3383280"/>
            <a:ext cx="2103120" cy="1440180"/>
          </a:xfrm>
          <a:prstGeom prst="line">
            <a:avLst/>
          </a:prstGeom>
          <a:ln w="19050">
            <a:solidFill>
              <a:srgbClr val="40404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040879" y="361188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1" b="0">
                <a:solidFill>
                  <a:srgbClr val="6E1222"/>
                </a:solidFill>
                <a:latin typeface="Calibri"/>
              </a:rPr>
              <a:t>practice chat transcript
(unconfirmed if OpenAI
retains/logs it)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6309360"/>
            <a:ext cx="256032" cy="182880"/>
          </a:xfrm>
          <a:prstGeom prst="roundRect">
            <a:avLst/>
          </a:prstGeom>
          <a:solidFill>
            <a:srgbClr val="FAF7F2"/>
          </a:solidFill>
          <a:ln>
            <a:solidFill>
              <a:srgbClr val="FAF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19" y="628192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i="0" b="0">
                <a:solidFill>
                  <a:srgbClr val="6B6259"/>
                </a:solidFill>
                <a:latin typeface="Calibri"/>
              </a:rPr>
              <a:t>GitHub Pages / HTML page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71800" y="6309360"/>
            <a:ext cx="256032" cy="182880"/>
          </a:xfrm>
          <a:prstGeom prst="roundRect">
            <a:avLst/>
          </a:prstGeom>
          <a:solidFill>
            <a:srgbClr val="B8924A"/>
          </a:solidFill>
          <a:ln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628192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i="0" b="0">
                <a:solidFill>
                  <a:srgbClr val="6B6259"/>
                </a:solidFill>
                <a:latin typeface="Calibri"/>
              </a:rPr>
              <a:t>Cloudflare Worker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0" y="6309360"/>
            <a:ext cx="256032" cy="182880"/>
          </a:xfrm>
          <a:prstGeom prst="roundRect">
            <a:avLst/>
          </a:prstGeom>
          <a:solidFill>
            <a:srgbClr val="4A5A66"/>
          </a:solidFill>
          <a:ln>
            <a:solidFill>
              <a:srgbClr val="4A5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23559" y="628192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i="0" b="0">
                <a:solidFill>
                  <a:srgbClr val="6B6259"/>
                </a:solidFill>
                <a:latin typeface="Calibri"/>
              </a:rPr>
              <a:t>External service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6309360"/>
            <a:ext cx="256032" cy="182880"/>
          </a:xfrm>
          <a:prstGeom prst="roundRect">
            <a:avLst/>
          </a:prstGeom>
          <a:solidFill>
            <a:srgbClr val="9E1B32"/>
          </a:solidFill>
          <a:ln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79" y="628192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i="0" b="0">
                <a:solidFill>
                  <a:srgbClr val="6B6259"/>
                </a:solidFill>
                <a:latin typeface="Calibri"/>
              </a:rPr>
              <a:t>REDCap (data store)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4211F"/>
                </a:solidFill>
                <a:latin typeface="Cambria"/>
              </a:rPr>
              <a:t>Data Flow — Intake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6B6259"/>
                </a:solidFill>
                <a:latin typeface="Calibri"/>
              </a:rPr>
              <a:t>Confirmed via a live Qualtrics WebService screenshot, not repo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743200"/>
            <a:ext cx="1600200" cy="685800"/>
          </a:xfrm>
          <a:prstGeom prst="roundRect">
            <a:avLst/>
          </a:prstGeom>
          <a:solidFill>
            <a:srgbClr val="4A5A66"/>
          </a:solidFill>
          <a:ln w="9525">
            <a:solidFill>
              <a:srgbClr val="4A5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Qualtrics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WebService task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2743200"/>
            <a:ext cx="2103120" cy="594360"/>
          </a:xfrm>
          <a:prstGeom prst="roundRect">
            <a:avLst/>
          </a:prstGeom>
          <a:solidFill>
            <a:srgbClr val="B8924A"/>
          </a:solidFill>
          <a:ln w="19050">
            <a:solidFill>
              <a:srgbClr val="40404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qualtrics-intake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Worker (ephemeral)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2651760"/>
            <a:ext cx="1600200" cy="777240"/>
          </a:xfrm>
          <a:prstGeom prst="roundRect">
            <a:avLst/>
          </a:prstGeom>
          <a:solidFill>
            <a:srgbClr val="9E1B32"/>
          </a:solidFill>
          <a:ln w="9525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REDCap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77440" y="3063240"/>
            <a:ext cx="1463040" cy="0"/>
          </a:xfrm>
          <a:prstGeom prst="line">
            <a:avLst/>
          </a:prstGeom>
          <a:ln w="19050">
            <a:solidFill>
              <a:srgbClr val="40404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5943600" y="3017520"/>
            <a:ext cx="1920240" cy="4572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377440" y="2011680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i="0" b="1">
                <a:solidFill>
                  <a:srgbClr val="24211F"/>
                </a:solidFill>
                <a:latin typeface="Calibri"/>
              </a:rPr>
              <a:t>Data elements in transit:
email · event_date · event_num ·
first_name · orientation · sex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3375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0" b="0">
                <a:solidFill>
                  <a:srgbClr val="24211F"/>
                </a:solidFill>
                <a:latin typeface="Calibri"/>
              </a:rPr>
              <a:t>written to REDCap
(instrument name not
confirmed — not guessed)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572000"/>
            <a:ext cx="10881360" cy="1280160"/>
          </a:xfrm>
          <a:prstGeom prst="roundRect">
            <a:avLst/>
          </a:prstGeom>
          <a:solidFill>
            <a:srgbClr val="F3E7D6"/>
          </a:solidFill>
          <a:ln w="15875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900" b="1">
                <a:solidFill>
                  <a:srgbClr val="6E1222"/>
                </a:solidFill>
                <a:latin typeface="Calibri"/>
              </a:rPr>
              <a:t>PER EXTERNAL SPEC — UNVERIFIED FROM REPO</a:t>
            </a:r>
          </a:p>
          <a:p>
            <a:r>
              <a:rPr sz="1000">
                <a:solidFill>
                  <a:srgbClr val="24211F"/>
                </a:solidFill>
                <a:latin typeface="Calibri"/>
              </a:rPr>
              <a:t>This Worker and its exact payload shape are known ONLY from a live Qualtrics task-configuration screenshot the user showed in this session — they are not referenced anywhere in the repo's HTML or in CLAUDE.md. This means the intake step of the participant lifecycle happens entirely outside GitHub Pages: no page in this repo initiates or is involved in intake at all, which is itself a discrepancy from a spec that implies the site drives this step.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4211F"/>
                </a:solidFill>
                <a:latin typeface="Cambria"/>
              </a:rPr>
              <a:t>Data Flow — Event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6B6259"/>
                </a:solidFill>
                <a:latin typeface="Calibri"/>
              </a:rPr>
              <a:t>State ratings + PID at check-in; per-date ratings via scorecard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1737360" cy="685800"/>
          </a:xfrm>
          <a:prstGeom prst="roundRect">
            <a:avLst/>
          </a:prstGeom>
          <a:solidFill>
            <a:srgbClr val="FAF7F2"/>
          </a:solidFill>
          <a:ln w="9525">
            <a:solidFill>
              <a:srgbClr val="FAF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9E1B32"/>
                </a:solidFill>
                <a:latin typeface="Calibri"/>
              </a:rPr>
              <a:t>checkin/</a:t>
            </a:r>
          </a:p>
          <a:p>
            <a:pPr algn="ctr"/>
            <a:r>
              <a:rPr sz="850" b="0" i="0">
                <a:solidFill>
                  <a:srgbClr val="9E1B32"/>
                </a:solidFill>
                <a:latin typeface="Calibri"/>
              </a:rPr>
              <a:t>index.html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463040"/>
            <a:ext cx="1920240" cy="594360"/>
          </a:xfrm>
          <a:prstGeom prst="roundRect">
            <a:avLst/>
          </a:prstGeom>
          <a:solidFill>
            <a:srgbClr val="B8924A"/>
          </a:solidFill>
          <a:ln w="19050">
            <a:solidFill>
              <a:srgbClr val="40404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checkin Worker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(ephemeral)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657600"/>
            <a:ext cx="1737360" cy="685800"/>
          </a:xfrm>
          <a:prstGeom prst="roundRect">
            <a:avLst/>
          </a:prstGeom>
          <a:solidFill>
            <a:srgbClr val="FAF7F2"/>
          </a:solidFill>
          <a:ln w="9525">
            <a:solidFill>
              <a:srgbClr val="FAF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9E1B32"/>
                </a:solidFill>
                <a:latin typeface="Calibri"/>
              </a:rPr>
              <a:t>scorecard.html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3657600"/>
            <a:ext cx="1920240" cy="594360"/>
          </a:xfrm>
          <a:prstGeom prst="roundRect">
            <a:avLst/>
          </a:prstGeom>
          <a:solidFill>
            <a:srgbClr val="B8924A"/>
          </a:solidFill>
          <a:ln w="19050">
            <a:solidFill>
              <a:srgbClr val="40404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scorecard-submit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Worker (ephemeral)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2468880"/>
            <a:ext cx="1600200" cy="777240"/>
          </a:xfrm>
          <a:prstGeom prst="roundRect">
            <a:avLst/>
          </a:prstGeom>
          <a:solidFill>
            <a:srgbClr val="9E1B32"/>
          </a:solidFill>
          <a:ln w="9525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REDCap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77440" y="1783080"/>
            <a:ext cx="914400" cy="0"/>
          </a:xfrm>
          <a:prstGeom prst="line">
            <a:avLst/>
          </a:prstGeom>
          <a:ln w="19050">
            <a:solidFill>
              <a:srgbClr val="40404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77840" y="128016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i="0" b="0">
                <a:solidFill>
                  <a:srgbClr val="24211F"/>
                </a:solidFill>
                <a:latin typeface="Calibri"/>
              </a:rPr>
              <a:t>in: email + state_nervous..state_ready (1–5)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212080" y="1783080"/>
            <a:ext cx="3657600" cy="96012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577840" y="1874519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i="0" b="0">
                <a:solidFill>
                  <a:srgbClr val="24211F"/>
                </a:solidFill>
                <a:latin typeface="Calibri"/>
              </a:rPr>
              <a:t>out: pid, first_name → shown to
participant (not written back to page storage)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77440" y="3977639"/>
            <a:ext cx="914400" cy="0"/>
          </a:xfrm>
          <a:prstGeom prst="line">
            <a:avLst/>
          </a:prstGeom>
          <a:ln w="19050">
            <a:solidFill>
              <a:srgbClr val="40404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577840" y="352044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i="0" b="0">
                <a:solidFill>
                  <a:srgbClr val="24211F"/>
                </a:solidFill>
                <a:latin typeface="Calibri"/>
              </a:rPr>
              <a:t>in: rater_id, partner_id (PIDs only — no names),
traits{10 items, 1–10}, statements{10 items, 1–7}, choice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5212080" y="3108960"/>
            <a:ext cx="3657600" cy="868679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852160" y="41605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0" b="0">
                <a:solidFill>
                  <a:srgbClr val="24211F"/>
                </a:solidFill>
                <a:latin typeface="Calibri"/>
              </a:rPr>
              <a:t>written to REDCap
(per-date scorecard)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94960"/>
            <a:ext cx="10881360" cy="914400"/>
          </a:xfrm>
          <a:prstGeom prst="roundRect">
            <a:avLst/>
          </a:prstGeom>
          <a:solidFill>
            <a:srgbClr val="F3E7D6"/>
          </a:solidFill>
          <a:ln w="15875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900" b="1">
                <a:solidFill>
                  <a:srgbClr val="6E1222"/>
                </a:solidFill>
                <a:latin typeface="Calibri"/>
              </a:rPr>
              <a:t>PER EXTERNAL SPEC — UNVERIFIED FROM REPO</a:t>
            </a:r>
          </a:p>
          <a:p>
            <a:r>
              <a:rPr sz="1000">
                <a:solidFill>
                  <a:srgbClr val="24211F"/>
                </a:solidFill>
                <a:latin typeface="Calibri"/>
              </a:rPr>
              <a:t>scorecard.html also keeps scorecard_event, scorecard_ra_input, and scorecard_count in localStorage on the RA's iPad — client-only convenience state (RA name / event number / session tally), confirmed never sent to any Worker as part of a submit payload.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4211F"/>
                </a:solidFill>
                <a:latin typeface="Cambria"/>
              </a:rPr>
              <a:t>Data Flow — Post-event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6B6259"/>
                </a:solidFill>
                <a:latin typeface="Calibri"/>
              </a:rPr>
              <a:t>Match computation, REDCap write, email send, and a CSV export that leaves the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651760"/>
            <a:ext cx="1737360" cy="685800"/>
          </a:xfrm>
          <a:prstGeom prst="roundRect">
            <a:avLst/>
          </a:prstGeom>
          <a:solidFill>
            <a:srgbClr val="FAF7F2"/>
          </a:solidFill>
          <a:ln w="9525">
            <a:solidFill>
              <a:srgbClr val="FAF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9E1B32"/>
                </a:solidFill>
                <a:latin typeface="Calibri"/>
              </a:rPr>
              <a:t>match-admin.html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2651760"/>
            <a:ext cx="2103120" cy="594360"/>
          </a:xfrm>
          <a:prstGeom prst="roundRect">
            <a:avLst/>
          </a:prstGeom>
          <a:solidFill>
            <a:srgbClr val="B8924A"/>
          </a:solidFill>
          <a:ln w="19050">
            <a:solidFill>
              <a:srgbClr val="40404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compute-matches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Worker (ephemeral)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0" y="1554480"/>
            <a:ext cx="1600200" cy="777240"/>
          </a:xfrm>
          <a:prstGeom prst="roundRect">
            <a:avLst/>
          </a:prstGeom>
          <a:solidFill>
            <a:srgbClr val="9E1B32"/>
          </a:solidFill>
          <a:ln w="9525">
            <a:solidFill>
              <a:srgbClr val="9E1B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REDCap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3931920"/>
            <a:ext cx="1600200" cy="685800"/>
          </a:xfrm>
          <a:prstGeom prst="roundRect">
            <a:avLst/>
          </a:prstGeom>
          <a:solidFill>
            <a:srgbClr val="4A5A66"/>
          </a:solidFill>
          <a:ln w="9525">
            <a:solidFill>
              <a:srgbClr val="4A5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Participant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email inboxes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77440" y="2971800"/>
            <a:ext cx="1005840" cy="0"/>
          </a:xfrm>
          <a:prstGeom prst="line">
            <a:avLst/>
          </a:prstGeom>
          <a:ln w="19050">
            <a:solidFill>
              <a:srgbClr val="40404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760720" y="246888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0" b="0">
                <a:solidFill>
                  <a:srgbClr val="24211F"/>
                </a:solidFill>
                <a:latin typeface="Calibri"/>
              </a:rPr>
              <a:t>in: event, adminSecret
(field name shown, no real value in repo)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5486400" y="2011680"/>
            <a:ext cx="3566160" cy="82296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675120" y="22402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0" b="0">
                <a:solidFill>
                  <a:srgbClr val="24211F"/>
                </a:solidFill>
                <a:latin typeface="Calibri"/>
              </a:rPr>
              <a:t>reads scorecards/attendees,
writes match_summary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0" y="3108960"/>
            <a:ext cx="3566160" cy="109728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675120" y="35661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i="1" b="0">
                <a:solidFill>
                  <a:srgbClr val="6E1222"/>
                </a:solidFill>
                <a:latin typeface="Calibri"/>
              </a:rPr>
              <a:t>match results emailed
(delivery mechanism unconfirmed)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4846320"/>
            <a:ext cx="2103120" cy="594360"/>
          </a:xfrm>
          <a:prstGeom prst="roundRect">
            <a:avLst/>
          </a:prstGeom>
          <a:solidFill>
            <a:srgbClr val="B8924A"/>
          </a:solidFill>
          <a:ln w="19050">
            <a:solidFill>
              <a:srgbClr val="40404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→ CSV blob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(format="csv")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77440" y="5120640"/>
            <a:ext cx="1005840" cy="0"/>
          </a:xfrm>
          <a:prstGeom prst="line">
            <a:avLst/>
          </a:prstGeom>
          <a:ln w="19050">
            <a:solidFill>
              <a:srgbClr val="40404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26480" y="4846320"/>
            <a:ext cx="1737360" cy="594360"/>
          </a:xfrm>
          <a:prstGeom prst="roundRect">
            <a:avLst/>
          </a:prstGeom>
          <a:solidFill>
            <a:srgbClr val="4A5A66"/>
          </a:solidFill>
          <a:ln w="9525">
            <a:solidFill>
              <a:srgbClr val="4A5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Admin's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device Downloads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0" y="5120640"/>
            <a:ext cx="640080" cy="0"/>
          </a:xfrm>
          <a:prstGeom prst="line">
            <a:avLst/>
          </a:prstGeom>
          <a:ln w="19050">
            <a:solidFill>
              <a:srgbClr val="40404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955279" y="489204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i="1" b="0">
                <a:solidFill>
                  <a:srgbClr val="6E1222"/>
                </a:solidFill>
                <a:latin typeface="Calibri"/>
              </a:rPr>
              <a:t>page itself warns: move to
Box/OneDrive per IRB — don't
leave sitting in Downloads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4211F"/>
                </a:solidFill>
                <a:latin typeface="Cambria"/>
              </a:rPr>
              <a:t>Verification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6B6259"/>
                </a:solidFill>
                <a:latin typeface="Calibri"/>
              </a:rPr>
              <a:t>Every discrepancy found between the external spec and confirmed repo/screenshot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1064240" cy="713232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950">
                <a:solidFill>
                  <a:srgbClr val="24211F"/>
                </a:solidFill>
                <a:latin typeface="Calibri"/>
              </a:rPr>
              <a:t>1.  qualtrics-intake Worker (confirmed via a live Qualtrics WebService screenshot: POSTs {email, event_date, event_num, first_name, orientation, sex} to qualtrics-intake.bthall3.workers.dev/qualtrics-intake) is NOT referenced anywhere in this repo's HTML or CLAUDE.md — intake happens entirely Qualtrics-side, never touching GitHub Pages. This contradicts the spec's implied "Qualtrics → REDCap record created" flow happening through the site.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39112"/>
            <a:ext cx="11064240" cy="566928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950">
                <a:solidFill>
                  <a:srgbClr val="24211F"/>
                </a:solidFill>
                <a:latin typeface="Calibri"/>
              </a:rPr>
              <a:t>2.  REDCap Alerts firing only on "conditional logic during import" vs. "record saved on form" is REDCap platform behavior — UNVERIFIABLE from this repo's client-side JS. Shown only as a flagged annotation, never as confirmed fact.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97480"/>
            <a:ext cx="11064240" cy="713232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950">
                <a:solidFill>
                  <a:srgbClr val="24211F"/>
                </a:solidFill>
                <a:latin typeface="Calibri"/>
              </a:rPr>
              <a:t>3.  Module 7's Worker allegedly "skipping the overwrite guard" other module Workers have is UNVERIFIABLE from this repo: neither module-1.html nor module-7.html shows ANY client-side overwrite-guard logic — that logic, if it exists, lives server-side in Worker code, which is not present in this repository.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502152"/>
            <a:ext cx="11064240" cy="713232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950">
                <a:solidFill>
                  <a:srgbClr val="24211F"/>
                </a:solidFill>
                <a:latin typeface="Calibri"/>
              </a:rPr>
              <a:t>4.  Module 7 is structurally different from modules 1–6: it's an "Email me these ideas" action (module7-planning Worker), not a submit-and-complete flow, and shows no completion/progress gating client-side — even though training/index.html's resolve-token contract still expects a module7_complete flag.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306824"/>
            <a:ext cx="11064240" cy="566928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950">
                <a:solidFill>
                  <a:srgbClr val="24211F"/>
                </a:solidFill>
                <a:latin typeface="Calibri"/>
              </a:rPr>
              <a:t>5.  All 6 module-submit Workers, module7-planning, and all 3 practice-chat.html Workers (chatEndpoint, feedbackEndpoint, logEndpoint) are marked "// TODO: confirm once deployed" in source — none are confirmed live.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965192"/>
            <a:ext cx="11064240" cy="566928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950">
                <a:solidFill>
                  <a:srgbClr val="24211F"/>
                </a:solidFill>
                <a:latin typeface="Calibri"/>
              </a:rPr>
              <a:t>6.  checkin.bthall3.workers.dev carries no TODO comment, but its URL line still says "update to your actual deployed Worker URL" — deployment status is not fully confirmed despite lacking the TODO marker.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623559"/>
            <a:ext cx="11064240" cy="713232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950">
                <a:solidFill>
                  <a:srgbClr val="24211F"/>
                </a:solidFill>
                <a:latin typeface="Calibri"/>
              </a:rPr>
              <a:t>7.  Which practice-chat.html Worker actually proxies OpenAI is inferred, not confirmed: chatEndpoint returns {persona, reply} shaped like a live LLM turn (matching the spec's description), but feedbackEndpoint's categorized ratings output is also LLM-shaped, and no repo comment names either as the OpenAI-backed 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6428231"/>
            <a:ext cx="11064240" cy="566928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950">
                <a:solidFill>
                  <a:srgbClr val="24211F"/>
                </a:solidFill>
                <a:latin typeface="Calibri"/>
              </a:rPr>
              <a:t>8.  No REDCap instrument or field names are confirmed anywhere in this repo — every "m{N}_..." name used in this deck is inferred purely from POST payload keys in each module's submit function, not from a confirmed REDCap schema.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